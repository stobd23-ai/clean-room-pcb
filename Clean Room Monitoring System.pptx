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Intro" panose="02000000000000000000" pitchFamily="2" charset="0"/>
      <p:regular r:id="rId15"/>
    </p:embeddedFont>
    <p:embeddedFont>
      <p:font typeface="Poppins" pitchFamily="2" charset="77"/>
      <p:regular r:id="rId16"/>
      <p:bold r:id="rId17"/>
      <p:italic r:id="rId18"/>
      <p:boldItalic r:id="rId19"/>
    </p:embeddedFont>
    <p:embeddedFont>
      <p:font typeface="Poppins Bold" pitchFamily="2" charset="77"/>
      <p:regular r:id="rId20"/>
      <p:bold r:id="rId21"/>
    </p:embeddedFont>
    <p:embeddedFont>
      <p:font typeface="Poppins Italics" pitchFamily="2" charset="77"/>
      <p:regular r:id="rId22"/>
      <p:italic r:id="rId23"/>
    </p:embeddedFont>
    <p:embeddedFont>
      <p:font typeface="Poppins Ultra-Bold" pitchFamily="2" charset="77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20" autoAdjust="0"/>
  </p:normalViewPr>
  <p:slideViewPr>
    <p:cSldViewPr>
      <p:cViewPr varScale="1">
        <p:scale>
          <a:sx n="76" d="100"/>
          <a:sy n="76" d="100"/>
        </p:scale>
        <p:origin x="54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961567"/>
            <a:ext cx="12524930" cy="467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15000" spc="-825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CLEAN ROOM MONITORING SYSTEM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1581993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71907" y="7580633"/>
            <a:ext cx="3498388" cy="507582"/>
            <a:chOff x="0" y="0"/>
            <a:chExt cx="921386" cy="1336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1386" cy="133684"/>
            </a:xfrm>
            <a:custGeom>
              <a:avLst/>
              <a:gdLst/>
              <a:ahLst/>
              <a:cxnLst/>
              <a:rect l="l" t="t" r="r" b="b"/>
              <a:pathLst>
                <a:path w="921386" h="133684">
                  <a:moveTo>
                    <a:pt x="0" y="0"/>
                  </a:moveTo>
                  <a:lnTo>
                    <a:pt x="921386" y="0"/>
                  </a:lnTo>
                  <a:lnTo>
                    <a:pt x="921386" y="133684"/>
                  </a:lnTo>
                  <a:lnTo>
                    <a:pt x="0" y="133684"/>
                  </a:lnTo>
                  <a:close/>
                </a:path>
              </a:pathLst>
            </a:custGeom>
            <a:solidFill>
              <a:srgbClr val="A60E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921386" cy="114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71907" y="7562961"/>
            <a:ext cx="1156194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19"/>
              </a:lnSpc>
            </a:pPr>
            <a:r>
              <a:rPr lang="en-US" sz="3099" spc="-6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SECOND REVISION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32493"/>
            <a:ext cx="9254701" cy="5517131"/>
            <a:chOff x="0" y="0"/>
            <a:chExt cx="1101151" cy="656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1151" cy="656444"/>
            </a:xfrm>
            <a:custGeom>
              <a:avLst/>
              <a:gdLst/>
              <a:ahLst/>
              <a:cxnLst/>
              <a:rect l="l" t="t" r="r" b="b"/>
              <a:pathLst>
                <a:path w="1101151" h="656444">
                  <a:moveTo>
                    <a:pt x="0" y="0"/>
                  </a:moveTo>
                  <a:lnTo>
                    <a:pt x="1101151" y="0"/>
                  </a:lnTo>
                  <a:lnTo>
                    <a:pt x="1101151" y="656444"/>
                  </a:lnTo>
                  <a:lnTo>
                    <a:pt x="0" y="656444"/>
                  </a:lnTo>
                  <a:close/>
                </a:path>
              </a:pathLst>
            </a:custGeom>
            <a:blipFill>
              <a:blip r:embed="rId2"/>
              <a:stretch>
                <a:fillRect t="-12440" b="-63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849153" y="2090820"/>
            <a:ext cx="8877182" cy="5648159"/>
            <a:chOff x="0" y="0"/>
            <a:chExt cx="1056233" cy="6720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56233" cy="672035"/>
            </a:xfrm>
            <a:custGeom>
              <a:avLst/>
              <a:gdLst/>
              <a:ahLst/>
              <a:cxnLst/>
              <a:rect l="l" t="t" r="r" b="b"/>
              <a:pathLst>
                <a:path w="1056233" h="672035">
                  <a:moveTo>
                    <a:pt x="0" y="0"/>
                  </a:moveTo>
                  <a:lnTo>
                    <a:pt x="1056233" y="0"/>
                  </a:lnTo>
                  <a:lnTo>
                    <a:pt x="1056233" y="672035"/>
                  </a:lnTo>
                  <a:lnTo>
                    <a:pt x="0" y="672035"/>
                  </a:lnTo>
                  <a:close/>
                </a:path>
              </a:pathLst>
            </a:custGeom>
            <a:blipFill>
              <a:blip r:embed="rId3"/>
              <a:stretch>
                <a:fillRect l="-790" r="-7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767950" y="763604"/>
            <a:ext cx="4959350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b="1" spc="-998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POWER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8001235"/>
            <a:ext cx="6602894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0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Buck-Boost, output 3.3 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397402"/>
            <a:ext cx="6602894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0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Booster, output 5V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9135" y="6956837"/>
            <a:ext cx="6434309" cy="294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Main parts in system.</a:t>
            </a:r>
          </a:p>
          <a:p>
            <a:pPr algn="l">
              <a:lnSpc>
                <a:spcPts val="2900"/>
              </a:lnSpc>
            </a:pPr>
            <a:endParaRPr lang="en-US" sz="2900" spc="-58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0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Power goes to sensors + components </a:t>
            </a:r>
          </a:p>
          <a:p>
            <a:pPr algn="l">
              <a:lnSpc>
                <a:spcPts val="2900"/>
              </a:lnSpc>
            </a:pPr>
            <a:endParaRPr lang="en-US" sz="2900" spc="-58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0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Both accepts voltage range of:</a:t>
            </a:r>
          </a:p>
          <a:p>
            <a:pPr algn="l">
              <a:lnSpc>
                <a:spcPts val="290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1.8V - 5.5V.</a:t>
            </a:r>
          </a:p>
          <a:p>
            <a:pPr algn="l">
              <a:lnSpc>
                <a:spcPts val="2900"/>
              </a:lnSpc>
            </a:pPr>
            <a:endParaRPr lang="en-US" sz="2900" spc="-58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02059" y="8579720"/>
            <a:ext cx="84867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Output =&gt; determined by the feedback resistors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4956" y="9411747"/>
            <a:ext cx="631364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60" dirty="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R3 = R4(</a:t>
            </a:r>
            <a:r>
              <a:rPr lang="en-US" sz="3000" spc="-60" dirty="0" err="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Vout</a:t>
            </a:r>
            <a:r>
              <a:rPr lang="en-US" sz="3000" spc="-60" dirty="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/1 - </a:t>
            </a:r>
            <a:r>
              <a:rPr lang="en-US" sz="3000" spc="-60" dirty="0" err="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Vfb</a:t>
            </a:r>
            <a:r>
              <a:rPr lang="en-US" sz="3000" spc="-60" dirty="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), </a:t>
            </a:r>
            <a:r>
              <a:rPr lang="en-US" sz="3000" spc="-60" dirty="0" err="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Vfb</a:t>
            </a:r>
            <a:r>
              <a:rPr lang="en-US" sz="3000" spc="-60" dirty="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 = 0.5V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12590" y="4989196"/>
            <a:ext cx="11418790" cy="3999116"/>
            <a:chOff x="0" y="0"/>
            <a:chExt cx="882220" cy="308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220" cy="308973"/>
            </a:xfrm>
            <a:custGeom>
              <a:avLst/>
              <a:gdLst/>
              <a:ahLst/>
              <a:cxnLst/>
              <a:rect l="l" t="t" r="r" b="b"/>
              <a:pathLst>
                <a:path w="882220" h="308973">
                  <a:moveTo>
                    <a:pt x="0" y="0"/>
                  </a:moveTo>
                  <a:lnTo>
                    <a:pt x="882220" y="0"/>
                  </a:lnTo>
                  <a:lnTo>
                    <a:pt x="882220" y="308973"/>
                  </a:lnTo>
                  <a:lnTo>
                    <a:pt x="0" y="308973"/>
                  </a:lnTo>
                  <a:close/>
                </a:path>
              </a:pathLst>
            </a:custGeom>
            <a:blipFill>
              <a:blip r:embed="rId2"/>
              <a:stretch>
                <a:fillRect l="-1408" r="-140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7160255" y="281633"/>
            <a:ext cx="0" cy="4291461"/>
          </a:xfrm>
          <a:prstGeom prst="line">
            <a:avLst/>
          </a:prstGeom>
          <a:ln w="38100" cap="flat">
            <a:solidFill>
              <a:srgbClr val="D5D5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153181" y="9244974"/>
            <a:ext cx="433760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Previous schematic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609285"/>
            <a:ext cx="5801941" cy="1628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sz="7300" b="1" spc="-759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USB CONNECTION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6516" y="781050"/>
            <a:ext cx="10184309" cy="398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3535" b="1" spc="-70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CANNOT UPLOAD CODE → PORT NOT SHOWING</a:t>
            </a:r>
          </a:p>
          <a:p>
            <a:pPr algn="l">
              <a:lnSpc>
                <a:spcPts val="2828"/>
              </a:lnSpc>
            </a:pPr>
            <a:endParaRPr lang="en-US" sz="3535" b="1" spc="-70">
              <a:solidFill>
                <a:srgbClr val="DBC7B3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algn="l">
              <a:lnSpc>
                <a:spcPts val="2828"/>
              </a:lnSpc>
            </a:pPr>
            <a:r>
              <a:rPr lang="en-US" sz="3535" b="1" spc="-70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POSSIBLE ISSUES:</a:t>
            </a:r>
          </a:p>
          <a:p>
            <a:pPr algn="l">
              <a:lnSpc>
                <a:spcPts val="2828"/>
              </a:lnSpc>
            </a:pPr>
            <a:endParaRPr lang="en-US" sz="3535" b="1" spc="-70">
              <a:solidFill>
                <a:srgbClr val="DBC7B3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marL="2289696" lvl="3" indent="-572424" algn="l">
              <a:lnSpc>
                <a:spcPts val="2828"/>
              </a:lnSpc>
              <a:buFont typeface="Arial"/>
              <a:buChar char="￭"/>
            </a:pPr>
            <a:r>
              <a:rPr lang="en-US" sz="3535" b="1" spc="-70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CABLE → X</a:t>
            </a:r>
          </a:p>
          <a:p>
            <a:pPr algn="l">
              <a:lnSpc>
                <a:spcPts val="2828"/>
              </a:lnSpc>
            </a:pPr>
            <a:endParaRPr lang="en-US" sz="3535" b="1" spc="-70">
              <a:solidFill>
                <a:srgbClr val="DBC7B3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marL="2289696" lvl="3" indent="-572424" algn="l">
              <a:lnSpc>
                <a:spcPts val="2828"/>
              </a:lnSpc>
              <a:buFont typeface="Arial"/>
              <a:buChar char="￭"/>
            </a:pPr>
            <a:r>
              <a:rPr lang="en-US" sz="3535" b="1" spc="-70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DRIVERS INSTALLATION → X</a:t>
            </a:r>
          </a:p>
          <a:p>
            <a:pPr algn="l">
              <a:lnSpc>
                <a:spcPts val="2828"/>
              </a:lnSpc>
            </a:pPr>
            <a:endParaRPr lang="en-US" sz="3535" b="1" spc="-70">
              <a:solidFill>
                <a:srgbClr val="DBC7B3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marL="2289696" lvl="3" indent="-572424" algn="l">
              <a:lnSpc>
                <a:spcPts val="2828"/>
              </a:lnSpc>
              <a:buFont typeface="Arial"/>
              <a:buChar char="￭"/>
            </a:pPr>
            <a:r>
              <a:rPr lang="en-US" sz="3535" b="1" spc="-70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ADDITIONAL LIBRARIES → X</a:t>
            </a:r>
          </a:p>
          <a:p>
            <a:pPr algn="l">
              <a:lnSpc>
                <a:spcPts val="2828"/>
              </a:lnSpc>
            </a:pPr>
            <a:r>
              <a:rPr lang="en-US" sz="3535" b="1" spc="-70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</a:t>
            </a:r>
          </a:p>
          <a:p>
            <a:pPr algn="l">
              <a:lnSpc>
                <a:spcPts val="2828"/>
              </a:lnSpc>
            </a:pPr>
            <a:endParaRPr lang="en-US" sz="3535" b="1" spc="-70">
              <a:solidFill>
                <a:srgbClr val="DBC7B3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3057" y="3579237"/>
            <a:ext cx="7097342" cy="4201227"/>
            <a:chOff x="0" y="0"/>
            <a:chExt cx="606060" cy="3587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6060" cy="358753"/>
            </a:xfrm>
            <a:custGeom>
              <a:avLst/>
              <a:gdLst/>
              <a:ahLst/>
              <a:cxnLst/>
              <a:rect l="l" t="t" r="r" b="b"/>
              <a:pathLst>
                <a:path w="606060" h="358753">
                  <a:moveTo>
                    <a:pt x="0" y="0"/>
                  </a:moveTo>
                  <a:lnTo>
                    <a:pt x="606060" y="0"/>
                  </a:lnTo>
                  <a:lnTo>
                    <a:pt x="606060" y="358753"/>
                  </a:lnTo>
                  <a:lnTo>
                    <a:pt x="0" y="358753"/>
                  </a:lnTo>
                  <a:close/>
                </a:path>
              </a:pathLst>
            </a:custGeom>
            <a:blipFill>
              <a:blip r:embed="rId2"/>
              <a:stretch>
                <a:fillRect l="-5124" r="-108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19022" y="3561167"/>
            <a:ext cx="7226902" cy="4230273"/>
            <a:chOff x="0" y="0"/>
            <a:chExt cx="606060" cy="3547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6060" cy="354758"/>
            </a:xfrm>
            <a:custGeom>
              <a:avLst/>
              <a:gdLst/>
              <a:ahLst/>
              <a:cxnLst/>
              <a:rect l="l" t="t" r="r" b="b"/>
              <a:pathLst>
                <a:path w="606060" h="354758">
                  <a:moveTo>
                    <a:pt x="0" y="0"/>
                  </a:moveTo>
                  <a:lnTo>
                    <a:pt x="606060" y="0"/>
                  </a:lnTo>
                  <a:lnTo>
                    <a:pt x="606060" y="354758"/>
                  </a:lnTo>
                  <a:lnTo>
                    <a:pt x="0" y="354758"/>
                  </a:lnTo>
                  <a:close/>
                </a:path>
              </a:pathLst>
            </a:custGeom>
            <a:blipFill>
              <a:blip r:embed="rId3"/>
              <a:stretch>
                <a:fillRect t="-6059" b="-12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700" y="1581993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028700" y="7949904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2448150"/>
            <a:ext cx="16230600" cy="124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7"/>
              </a:lnSpc>
            </a:pPr>
            <a:r>
              <a:rPr lang="en-US" sz="11074" spc="-609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CP2102-GM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5689" y="8123325"/>
            <a:ext cx="6800501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Data sheet</a:t>
            </a:r>
          </a:p>
          <a:p>
            <a:pPr algn="ctr">
              <a:lnSpc>
                <a:spcPts val="3600"/>
              </a:lnSpc>
            </a:pPr>
            <a:endParaRPr lang="en-US" sz="3000" spc="-6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600"/>
              </a:lnSpc>
            </a:pPr>
            <a:endParaRPr lang="en-US" sz="3000" spc="-6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04688" y="8123325"/>
            <a:ext cx="509367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Previous schematic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16821" y="8580525"/>
            <a:ext cx="6654358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Problem:</a:t>
            </a:r>
          </a:p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USB is only for uploading code, not supplying power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270" y="1981425"/>
            <a:ext cx="509367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DBC7B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retrieved from:</a:t>
            </a:r>
          </a:p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DBC7B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https://www.silabs.com/documents/public/data-sheets/CP2102-9.pdf</a:t>
            </a:r>
          </a:p>
          <a:p>
            <a:pPr algn="ctr">
              <a:lnSpc>
                <a:spcPts val="2400"/>
              </a:lnSpc>
            </a:pPr>
            <a:endParaRPr lang="en-US" sz="2000" i="1" spc="-40">
              <a:solidFill>
                <a:srgbClr val="DBC7B3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623205"/>
            <a:ext cx="7994912" cy="6311057"/>
            <a:chOff x="0" y="0"/>
            <a:chExt cx="682705" cy="5389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2705" cy="538917"/>
            </a:xfrm>
            <a:custGeom>
              <a:avLst/>
              <a:gdLst/>
              <a:ahLst/>
              <a:cxnLst/>
              <a:rect l="l" t="t" r="r" b="b"/>
              <a:pathLst>
                <a:path w="682705" h="538917">
                  <a:moveTo>
                    <a:pt x="0" y="0"/>
                  </a:moveTo>
                  <a:lnTo>
                    <a:pt x="682705" y="0"/>
                  </a:lnTo>
                  <a:lnTo>
                    <a:pt x="682705" y="538917"/>
                  </a:lnTo>
                  <a:lnTo>
                    <a:pt x="0" y="538917"/>
                  </a:lnTo>
                  <a:close/>
                </a:path>
              </a:pathLst>
            </a:custGeom>
            <a:blipFill>
              <a:blip r:embed="rId2"/>
              <a:stretch>
                <a:fillRect l="-11271" r="-219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99353" y="1623205"/>
            <a:ext cx="7904340" cy="6311057"/>
            <a:chOff x="0" y="0"/>
            <a:chExt cx="669670" cy="5346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9670" cy="534684"/>
            </a:xfrm>
            <a:custGeom>
              <a:avLst/>
              <a:gdLst/>
              <a:ahLst/>
              <a:cxnLst/>
              <a:rect l="l" t="t" r="r" b="b"/>
              <a:pathLst>
                <a:path w="669670" h="534684">
                  <a:moveTo>
                    <a:pt x="0" y="0"/>
                  </a:moveTo>
                  <a:lnTo>
                    <a:pt x="669670" y="0"/>
                  </a:lnTo>
                  <a:lnTo>
                    <a:pt x="669670" y="534684"/>
                  </a:lnTo>
                  <a:lnTo>
                    <a:pt x="0" y="534684"/>
                  </a:lnTo>
                  <a:close/>
                </a:path>
              </a:pathLst>
            </a:custGeom>
            <a:blipFill>
              <a:blip r:embed="rId3"/>
              <a:stretch>
                <a:fillRect l="-6128" t="-2645" r="-3300" b="-43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700" y="1581993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028700" y="7949904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855689" y="8123325"/>
            <a:ext cx="6800501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Data sheet</a:t>
            </a:r>
          </a:p>
          <a:p>
            <a:pPr algn="ctr">
              <a:lnSpc>
                <a:spcPts val="3600"/>
              </a:lnSpc>
            </a:pPr>
            <a:endParaRPr lang="en-US" sz="3000" spc="-6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600"/>
              </a:lnSpc>
            </a:pPr>
            <a:endParaRPr lang="en-US" sz="3000" spc="-6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04688" y="8123325"/>
            <a:ext cx="509367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Current schematic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16821" y="8580525"/>
            <a:ext cx="6654358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Fix:</a:t>
            </a:r>
          </a:p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A different USB_VBUS line,</a:t>
            </a:r>
          </a:p>
          <a:p>
            <a:pPr algn="ctr">
              <a:lnSpc>
                <a:spcPts val="3600"/>
              </a:lnSpc>
            </a:pPr>
            <a:r>
              <a:rPr lang="en-US" sz="3000" spc="-6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self-powered system.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007" y="375430"/>
            <a:ext cx="509367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DBC7B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retrieved from:</a:t>
            </a:r>
          </a:p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DBC7B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https://www.silabs.com/documents/public/data-sheets/CP2102-9.pdf</a:t>
            </a:r>
          </a:p>
          <a:p>
            <a:pPr algn="ctr">
              <a:lnSpc>
                <a:spcPts val="2400"/>
              </a:lnSpc>
            </a:pPr>
            <a:endParaRPr lang="en-US" sz="2000" i="1" spc="-40">
              <a:solidFill>
                <a:srgbClr val="DBC7B3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603769"/>
            <a:ext cx="6301394" cy="4654531"/>
            <a:chOff x="0" y="0"/>
            <a:chExt cx="749758" cy="553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9758" cy="553810"/>
            </a:xfrm>
            <a:custGeom>
              <a:avLst/>
              <a:gdLst/>
              <a:ahLst/>
              <a:cxnLst/>
              <a:rect l="l" t="t" r="r" b="b"/>
              <a:pathLst>
                <a:path w="749758" h="553810">
                  <a:moveTo>
                    <a:pt x="0" y="0"/>
                  </a:moveTo>
                  <a:lnTo>
                    <a:pt x="749758" y="0"/>
                  </a:lnTo>
                  <a:lnTo>
                    <a:pt x="749758" y="553810"/>
                  </a:lnTo>
                  <a:lnTo>
                    <a:pt x="0" y="553810"/>
                  </a:lnTo>
                  <a:close/>
                </a:path>
              </a:pathLst>
            </a:custGeom>
            <a:blipFill>
              <a:blip r:embed="rId2"/>
              <a:stretch>
                <a:fillRect t="-3124" r="-24410" b="-623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1028700" y="1581993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347756" y="6742449"/>
            <a:ext cx="8911544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347756" y="5068271"/>
            <a:ext cx="8911544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09650" y="2701080"/>
            <a:ext cx="16230600" cy="1245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7"/>
              </a:lnSpc>
            </a:pPr>
            <a:r>
              <a:rPr lang="en-US" sz="11074" spc="-609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BOOT + RESET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47756" y="6218574"/>
            <a:ext cx="595401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1" spc="-60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How?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47756" y="6824359"/>
            <a:ext cx="8911544" cy="291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 Click Upload on Arduino</a:t>
            </a:r>
          </a:p>
          <a:p>
            <a:pPr marL="518160" lvl="1" indent="-259080" algn="just">
              <a:lnSpc>
                <a:spcPts val="2879"/>
              </a:lnSpc>
              <a:buAutoNum type="arabicPeriod"/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Wait until you see:</a:t>
            </a:r>
          </a:p>
          <a:p>
            <a:pPr algn="ctr">
              <a:lnSpc>
                <a:spcPts val="2879"/>
              </a:lnSpc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Connecting...</a:t>
            </a:r>
          </a:p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Perform the sequence:</a:t>
            </a:r>
          </a:p>
          <a:p>
            <a:pPr marL="1036320" lvl="2" indent="-345440" algn="just">
              <a:lnSpc>
                <a:spcPts val="2879"/>
              </a:lnSpc>
              <a:buFont typeface="Arial"/>
              <a:buChar char="⚬"/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Hold BOOT</a:t>
            </a:r>
          </a:p>
          <a:p>
            <a:pPr marL="1036320" lvl="2" indent="-345440" algn="just">
              <a:lnSpc>
                <a:spcPts val="2879"/>
              </a:lnSpc>
              <a:buFont typeface="Arial"/>
              <a:buChar char="⚬"/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Press and release RESET</a:t>
            </a:r>
          </a:p>
          <a:p>
            <a:pPr marL="1036320" lvl="2" indent="-345440" algn="just">
              <a:lnSpc>
                <a:spcPts val="2879"/>
              </a:lnSpc>
              <a:buFont typeface="Arial"/>
              <a:buChar char="⚬"/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Release BOOT when you see “writing...”</a:t>
            </a:r>
          </a:p>
          <a:p>
            <a:pPr algn="just">
              <a:lnSpc>
                <a:spcPts val="2879"/>
              </a:lnSpc>
            </a:pPr>
            <a:endParaRPr lang="en-US" sz="2400" spc="-48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47756" y="4461052"/>
            <a:ext cx="595401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1" spc="-60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Code Upload Problem?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47756" y="5225434"/>
            <a:ext cx="891154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 spc="-4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Manually force ESP32 to enter bootloader mode to successfully upload code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62245"/>
            <a:ext cx="7837420" cy="4608424"/>
            <a:chOff x="0" y="0"/>
            <a:chExt cx="625776" cy="3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5776" cy="367958"/>
            </a:xfrm>
            <a:custGeom>
              <a:avLst/>
              <a:gdLst/>
              <a:ahLst/>
              <a:cxnLst/>
              <a:rect l="l" t="t" r="r" b="b"/>
              <a:pathLst>
                <a:path w="625776" h="367958">
                  <a:moveTo>
                    <a:pt x="0" y="0"/>
                  </a:moveTo>
                  <a:lnTo>
                    <a:pt x="625776" y="0"/>
                  </a:lnTo>
                  <a:lnTo>
                    <a:pt x="625776" y="367958"/>
                  </a:lnTo>
                  <a:lnTo>
                    <a:pt x="0" y="367958"/>
                  </a:lnTo>
                  <a:close/>
                </a:path>
              </a:pathLst>
            </a:custGeom>
            <a:blipFill>
              <a:blip r:embed="rId2"/>
              <a:stretch>
                <a:fillRect t="-6622" b="-43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1028700" y="691027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5637124"/>
            <a:ext cx="7837420" cy="4210430"/>
            <a:chOff x="0" y="0"/>
            <a:chExt cx="666035" cy="3578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6035" cy="357808"/>
            </a:xfrm>
            <a:custGeom>
              <a:avLst/>
              <a:gdLst/>
              <a:ahLst/>
              <a:cxnLst/>
              <a:rect l="l" t="t" r="r" b="b"/>
              <a:pathLst>
                <a:path w="666035" h="357808">
                  <a:moveTo>
                    <a:pt x="0" y="0"/>
                  </a:moveTo>
                  <a:lnTo>
                    <a:pt x="666035" y="0"/>
                  </a:lnTo>
                  <a:lnTo>
                    <a:pt x="666035" y="357808"/>
                  </a:lnTo>
                  <a:lnTo>
                    <a:pt x="0" y="357808"/>
                  </a:lnTo>
                  <a:close/>
                </a:path>
              </a:pathLst>
            </a:custGeom>
            <a:blipFill>
              <a:blip r:embed="rId3"/>
              <a:stretch>
                <a:fillRect t="-7153" b="-71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777829" y="3951199"/>
            <a:ext cx="7481471" cy="352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For all ESP modules, the reference image is recommended to enter boot loader mode.</a:t>
            </a:r>
          </a:p>
          <a:p>
            <a:pPr algn="l">
              <a:lnSpc>
                <a:spcPts val="3480"/>
              </a:lnSpc>
            </a:pPr>
            <a:endParaRPr lang="en-US" sz="2900" spc="-58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8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Eliminates the need to manually press the BOOT and RESET buttons every time you upload code.</a:t>
            </a:r>
          </a:p>
          <a:p>
            <a:pPr algn="l">
              <a:lnSpc>
                <a:spcPts val="3480"/>
              </a:lnSpc>
            </a:pPr>
            <a:endParaRPr lang="en-US" sz="2900" spc="-58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345242" y="1371600"/>
            <a:ext cx="8346645" cy="18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7"/>
              </a:lnSpc>
            </a:pPr>
            <a:r>
              <a:rPr lang="en-US" sz="8586" spc="-472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AUTO</a:t>
            </a:r>
          </a:p>
          <a:p>
            <a:pPr algn="ctr">
              <a:lnSpc>
                <a:spcPts val="6697"/>
              </a:lnSpc>
            </a:pPr>
            <a:r>
              <a:rPr lang="en-US" sz="8586" spc="-472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PROGRAMMING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2779" y="8467725"/>
            <a:ext cx="509367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DBC7B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retrieved from:</a:t>
            </a:r>
          </a:p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DBC7B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https://docs.espressif.com/projects/esp-iot-solution/en/latest/hw-reference/ESP-Prog_guide.html</a:t>
            </a:r>
          </a:p>
          <a:p>
            <a:pPr algn="ctr">
              <a:lnSpc>
                <a:spcPts val="2400"/>
              </a:lnSpc>
            </a:pPr>
            <a:endParaRPr lang="en-US" sz="2000" i="1" spc="-40">
              <a:solidFill>
                <a:srgbClr val="DBC7B3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952780" y="5749235"/>
            <a:ext cx="509367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05050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DTR</a:t>
            </a:r>
          </a:p>
          <a:p>
            <a:pPr algn="ctr">
              <a:lnSpc>
                <a:spcPts val="2400"/>
              </a:lnSpc>
            </a:pPr>
            <a:endParaRPr lang="en-US" sz="2000" i="1" spc="-40">
              <a:solidFill>
                <a:srgbClr val="050505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42632" y="6054035"/>
            <a:ext cx="509367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05050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319503" y="5749235"/>
            <a:ext cx="509367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05050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140890" y="8772525"/>
            <a:ext cx="509367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spc="-40">
                <a:solidFill>
                  <a:srgbClr val="05050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IO0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12034"/>
            <a:ext cx="8327313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8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Schotky diodes determine the voltage through the intersection. </a:t>
            </a:r>
          </a:p>
          <a:p>
            <a:pPr algn="just">
              <a:lnSpc>
                <a:spcPts val="3480"/>
              </a:lnSpc>
            </a:pPr>
            <a:endParaRPr lang="en-US" sz="2900" spc="-58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8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Higher voltage will pass.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12264"/>
            <a:ext cx="16230600" cy="161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14231" spc="-782">
                <a:solidFill>
                  <a:srgbClr val="DBC7B3"/>
                </a:solidFill>
                <a:latin typeface="Intro"/>
                <a:ea typeface="Intro"/>
                <a:cs typeface="Intro"/>
                <a:sym typeface="Intro"/>
              </a:rPr>
              <a:t>POWER SUPPLY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89634" y="4950147"/>
            <a:ext cx="8401656" cy="4276725"/>
            <a:chOff x="0" y="0"/>
            <a:chExt cx="681138" cy="3467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1138" cy="346722"/>
            </a:xfrm>
            <a:custGeom>
              <a:avLst/>
              <a:gdLst/>
              <a:ahLst/>
              <a:cxnLst/>
              <a:rect l="l" t="t" r="r" b="b"/>
              <a:pathLst>
                <a:path w="681138" h="346722">
                  <a:moveTo>
                    <a:pt x="0" y="0"/>
                  </a:moveTo>
                  <a:lnTo>
                    <a:pt x="681138" y="0"/>
                  </a:lnTo>
                  <a:lnTo>
                    <a:pt x="681138" y="346722"/>
                  </a:lnTo>
                  <a:lnTo>
                    <a:pt x="0" y="346722"/>
                  </a:lnTo>
                  <a:close/>
                </a:path>
              </a:pathLst>
            </a:custGeom>
            <a:blipFill>
              <a:blip r:embed="rId2"/>
              <a:stretch>
                <a:fillRect l="-2291" r="-22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7562850"/>
            <a:ext cx="3782960" cy="216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spc="-4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Direct ~5V supplied to system</a:t>
            </a:r>
          </a:p>
          <a:p>
            <a:pPr algn="just">
              <a:lnSpc>
                <a:spcPts val="2400"/>
              </a:lnSpc>
            </a:pPr>
            <a:endParaRPr lang="en-US" sz="2000" spc="-4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00"/>
              </a:lnSpc>
            </a:pPr>
            <a:r>
              <a:rPr lang="en-US" sz="2000" spc="-4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Initial stage and fully charged stage: still supplies voltage</a:t>
            </a:r>
          </a:p>
          <a:p>
            <a:pPr algn="just">
              <a:lnSpc>
                <a:spcPts val="2400"/>
              </a:lnSpc>
            </a:pPr>
            <a:endParaRPr lang="en-US" sz="2000" spc="-4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Battery stops discharging at 3.0V to protect cell</a:t>
            </a:r>
          </a:p>
        </p:txBody>
      </p:sp>
      <p:sp>
        <p:nvSpPr>
          <p:cNvPr id="7" name="AutoShape 7"/>
          <p:cNvSpPr/>
          <p:nvPr/>
        </p:nvSpPr>
        <p:spPr>
          <a:xfrm>
            <a:off x="1028700" y="1581993"/>
            <a:ext cx="1623060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573054" y="6940870"/>
            <a:ext cx="378296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1" spc="-49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BATTERY </a:t>
            </a:r>
          </a:p>
        </p:txBody>
      </p:sp>
      <p:sp>
        <p:nvSpPr>
          <p:cNvPr id="9" name="AutoShape 9"/>
          <p:cNvSpPr/>
          <p:nvPr/>
        </p:nvSpPr>
        <p:spPr>
          <a:xfrm>
            <a:off x="1028700" y="7336790"/>
            <a:ext cx="378296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573054" y="7562850"/>
            <a:ext cx="3782960" cy="246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Charges while DC is connected.</a:t>
            </a:r>
          </a:p>
          <a:p>
            <a:pPr algn="l">
              <a:lnSpc>
                <a:spcPts val="2400"/>
              </a:lnSpc>
            </a:pPr>
            <a:endParaRPr lang="en-US" sz="2000" spc="-4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Supplies power once DC is disconnected, reliable in power outages. </a:t>
            </a:r>
          </a:p>
          <a:p>
            <a:pPr algn="l">
              <a:lnSpc>
                <a:spcPts val="2400"/>
              </a:lnSpc>
            </a:pPr>
            <a:endParaRPr lang="en-US" sz="2000" spc="-40">
              <a:solidFill>
                <a:srgbClr val="DBC7B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3.0V - 4.2V discharge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73054" y="7336790"/>
            <a:ext cx="3782960" cy="0"/>
          </a:xfrm>
          <a:prstGeom prst="line">
            <a:avLst/>
          </a:prstGeom>
          <a:ln w="9525" cap="flat">
            <a:solidFill>
              <a:srgbClr val="DBC7B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6968173"/>
            <a:ext cx="378296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1" spc="-49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DC JACK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89634" y="9401175"/>
            <a:ext cx="832731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spc="-31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Power Supply Architecture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218321" cy="10503951"/>
            <a:chOff x="0" y="0"/>
            <a:chExt cx="1453771" cy="1249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3771" cy="1249791"/>
            </a:xfrm>
            <a:custGeom>
              <a:avLst/>
              <a:gdLst/>
              <a:ahLst/>
              <a:cxnLst/>
              <a:rect l="l" t="t" r="r" b="b"/>
              <a:pathLst>
                <a:path w="1453771" h="1249791">
                  <a:moveTo>
                    <a:pt x="0" y="0"/>
                  </a:moveTo>
                  <a:lnTo>
                    <a:pt x="1453771" y="0"/>
                  </a:lnTo>
                  <a:lnTo>
                    <a:pt x="1453771" y="1249791"/>
                  </a:lnTo>
                  <a:lnTo>
                    <a:pt x="0" y="1249791"/>
                  </a:lnTo>
                  <a:close/>
                </a:path>
              </a:pathLst>
            </a:custGeom>
            <a:blipFill>
              <a:blip r:embed="rId2"/>
              <a:stretch>
                <a:fillRect t="-5514" b="-3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376060" y="1304925"/>
            <a:ext cx="6221611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680"/>
              </a:lnSpc>
            </a:pPr>
            <a:r>
              <a:rPr lang="en-US" sz="9600" b="1" spc="-998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PCB  BOARD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18321" y="3259398"/>
            <a:ext cx="4231664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 spc="-79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TEST PADS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8321" y="4228749"/>
            <a:ext cx="504097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 spc="-79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Reset and Boot Buttons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18321" y="5613698"/>
            <a:ext cx="5040979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 spc="-79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Auto Programming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8321" y="6804491"/>
            <a:ext cx="5202440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 spc="-79">
                <a:solidFill>
                  <a:srgbClr val="DBC7B3"/>
                </a:solidFill>
                <a:latin typeface="Poppins Bold"/>
                <a:ea typeface="Poppins Bold"/>
                <a:cs typeface="Poppins Bold"/>
                <a:sym typeface="Poppins Bold"/>
              </a:rPr>
              <a:t>Alternative Wirings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8156" y="3531357"/>
            <a:ext cx="7635844" cy="5677306"/>
          </a:xfrm>
          <a:custGeom>
            <a:avLst/>
            <a:gdLst/>
            <a:ahLst/>
            <a:cxnLst/>
            <a:rect l="l" t="t" r="r" b="b"/>
            <a:pathLst>
              <a:path w="7635844" h="5677306">
                <a:moveTo>
                  <a:pt x="0" y="0"/>
                </a:moveTo>
                <a:lnTo>
                  <a:pt x="7635844" y="0"/>
                </a:lnTo>
                <a:lnTo>
                  <a:pt x="7635844" y="5677306"/>
                </a:lnTo>
                <a:lnTo>
                  <a:pt x="0" y="567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515" r="-48200" b="-393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193743" y="9497648"/>
            <a:ext cx="4094857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900" spc="-58">
                <a:solidFill>
                  <a:srgbClr val="DBC7B3"/>
                </a:solidFill>
                <a:latin typeface="Poppins"/>
                <a:ea typeface="Poppins"/>
                <a:cs typeface="Poppins"/>
                <a:sym typeface="Poppins"/>
              </a:rPr>
              <a:t>Extract of Arduino code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8342" y="1943441"/>
            <a:ext cx="7805658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b="1" spc="-998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CODE  +  BLYNK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8342" y="3961454"/>
            <a:ext cx="2816423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2880"/>
              </a:lnSpc>
              <a:buFont typeface="Arial"/>
              <a:buChar char="•"/>
            </a:pPr>
            <a:r>
              <a:rPr lang="en-US" sz="3600" b="1" spc="-72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CLEANED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18342" y="5230724"/>
            <a:ext cx="3307058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40" lvl="1" indent="-388620" algn="l">
              <a:lnSpc>
                <a:spcPts val="2880"/>
              </a:lnSpc>
              <a:buFont typeface="Arial"/>
              <a:buChar char="•"/>
            </a:pPr>
            <a:r>
              <a:rPr lang="en-US" sz="3600" b="1" spc="-72" dirty="0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IMPROVED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8342" y="4591099"/>
            <a:ext cx="3307058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40" lvl="1" indent="-388620" algn="l">
              <a:lnSpc>
                <a:spcPts val="2880"/>
              </a:lnSpc>
              <a:buFont typeface="Arial"/>
              <a:buChar char="•"/>
            </a:pPr>
            <a:r>
              <a:rPr lang="en-US" sz="3600" b="1" spc="-72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DEBUGGED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0686" y="3872459"/>
            <a:ext cx="5337314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2880"/>
              </a:lnSpc>
              <a:buFont typeface="Arial"/>
              <a:buChar char="•"/>
            </a:pPr>
            <a:r>
              <a:rPr lang="en-US" sz="3600" b="1" spc="-72">
                <a:solidFill>
                  <a:srgbClr val="DBC7B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REMOTE NOTIFICATION ENABLED WITH BLYNK.IO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62618" y="5569497"/>
            <a:ext cx="1024235" cy="2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599" i="1" spc="-31">
                <a:solidFill>
                  <a:srgbClr val="DBC7B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NEXT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879" y="2860889"/>
            <a:ext cx="15904242" cy="911447"/>
          </a:xfrm>
          <a:custGeom>
            <a:avLst/>
            <a:gdLst/>
            <a:ahLst/>
            <a:cxnLst/>
            <a:rect l="l" t="t" r="r" b="b"/>
            <a:pathLst>
              <a:path w="15904242" h="911447">
                <a:moveTo>
                  <a:pt x="0" y="0"/>
                </a:moveTo>
                <a:lnTo>
                  <a:pt x="15904242" y="0"/>
                </a:lnTo>
                <a:lnTo>
                  <a:pt x="15904242" y="911447"/>
                </a:lnTo>
                <a:lnTo>
                  <a:pt x="0" y="911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79" r="-45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67324" y="5143500"/>
            <a:ext cx="15553353" cy="1587419"/>
          </a:xfrm>
          <a:custGeom>
            <a:avLst/>
            <a:gdLst/>
            <a:ahLst/>
            <a:cxnLst/>
            <a:rect l="l" t="t" r="r" b="b"/>
            <a:pathLst>
              <a:path w="15553353" h="1587419">
                <a:moveTo>
                  <a:pt x="0" y="0"/>
                </a:moveTo>
                <a:lnTo>
                  <a:pt x="15553352" y="0"/>
                </a:lnTo>
                <a:lnTo>
                  <a:pt x="15553352" y="1587419"/>
                </a:lnTo>
                <a:lnTo>
                  <a:pt x="0" y="158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04" b="-97026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76566" y="1304925"/>
            <a:ext cx="8134046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9600" b="1" spc="-998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FURTHE R  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99730" y="3647666"/>
            <a:ext cx="12750998" cy="361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7909" lvl="1" indent="-528955" algn="l">
              <a:lnSpc>
                <a:spcPts val="3919"/>
              </a:lnSpc>
              <a:buFont typeface="Arial"/>
              <a:buChar char="•"/>
            </a:pPr>
            <a:r>
              <a:rPr lang="en-US" sz="4899" b="1" spc="-97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CHECK HARDWARE</a:t>
            </a:r>
          </a:p>
          <a:p>
            <a:pPr algn="l">
              <a:lnSpc>
                <a:spcPts val="3919"/>
              </a:lnSpc>
            </a:pPr>
            <a:endParaRPr lang="en-US" sz="4899" b="1" spc="-97">
              <a:solidFill>
                <a:srgbClr val="D5D5D5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marL="1057909" lvl="1" indent="-528955" algn="l">
              <a:lnSpc>
                <a:spcPts val="3919"/>
              </a:lnSpc>
              <a:buFont typeface="Arial"/>
              <a:buChar char="•"/>
            </a:pPr>
            <a:r>
              <a:rPr lang="en-US" sz="4899" b="1" spc="-97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UPLOAD CODE, RUN IT</a:t>
            </a:r>
          </a:p>
          <a:p>
            <a:pPr algn="l">
              <a:lnSpc>
                <a:spcPts val="3919"/>
              </a:lnSpc>
            </a:pPr>
            <a:endParaRPr lang="en-US" sz="4899" b="1" spc="-97">
              <a:solidFill>
                <a:srgbClr val="D5D5D5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marL="1057909" lvl="1" indent="-528955" algn="l">
              <a:lnSpc>
                <a:spcPts val="3919"/>
              </a:lnSpc>
              <a:buFont typeface="Arial"/>
              <a:buChar char="•"/>
            </a:pPr>
            <a:r>
              <a:rPr lang="en-US" sz="4899" b="1" spc="-97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TEST SENSOR READINGS</a:t>
            </a:r>
          </a:p>
          <a:p>
            <a:pPr algn="l">
              <a:lnSpc>
                <a:spcPts val="3919"/>
              </a:lnSpc>
            </a:pPr>
            <a:endParaRPr lang="en-US" sz="4899" b="1" spc="-97">
              <a:solidFill>
                <a:srgbClr val="D5D5D5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marL="1057909" lvl="1" indent="-528955" algn="l">
              <a:lnSpc>
                <a:spcPts val="3919"/>
              </a:lnSpc>
              <a:buFont typeface="Arial"/>
              <a:buChar char="•"/>
            </a:pPr>
            <a:r>
              <a:rPr lang="en-US" sz="4899" b="1" spc="-97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ENCLOSURE DESIGN FOR COMPONENTS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Macintosh PowerPoint</Application>
  <PresentationFormat>Custom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Poppins</vt:lpstr>
      <vt:lpstr>Poppins Italics</vt:lpstr>
      <vt:lpstr>Poppins Ultra-Bold</vt:lpstr>
      <vt:lpstr>Arial</vt:lpstr>
      <vt:lpstr>Poppins Bold</vt:lpstr>
      <vt:lpstr>Intro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Portofolio.</dc:title>
  <cp:lastModifiedBy>Tobden, Sonam</cp:lastModifiedBy>
  <cp:revision>3</cp:revision>
  <dcterms:created xsi:type="dcterms:W3CDTF">2006-08-16T00:00:00Z</dcterms:created>
  <dcterms:modified xsi:type="dcterms:W3CDTF">2026-09-03T11:18:59Z</dcterms:modified>
  <dc:identifier>DAHQFfO6he8</dc:identifier>
</cp:coreProperties>
</file>